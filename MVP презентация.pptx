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T Sans Narrow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TSansNarrow-bold.fntdata"/><Relationship Id="rId6" Type="http://schemas.openxmlformats.org/officeDocument/2006/relationships/slide" Target="slides/slide1.xml"/><Relationship Id="rId18" Type="http://schemas.openxmlformats.org/officeDocument/2006/relationships/font" Target="fonts/PTSansNarrow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6293240f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6293240f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6293240f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6293240f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6293240fc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6293240fc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6293240fc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6293240fc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0f337e2f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0f337e2f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6293240f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6293240f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0f337e2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0f337e2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0f337e2f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0f337e2f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0f337e2f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0f337e2f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6293240f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6293240f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6293240f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6293240f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B0qQeuFWGcoWVFCfUMDndYy1PK_M6opt/view" TargetMode="External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Телеграм-бот для создания плана питания</a:t>
            </a:r>
            <a:endParaRPr sz="5100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MVP-проект группа 10</a:t>
            </a:r>
            <a:br>
              <a:rPr lang="ru"/>
            </a:br>
            <a:r>
              <a:rPr lang="ru"/>
              <a:t>Полетаев Никита, Фаттахова Анна, Уразметова Маргарита, Cоловьева Дарья, Мухамадиева Алсу, Демоненко Никита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Кратко о продукте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Телеграм-бот (@nutriplaner_bot) выдает пользователю подробный план-питания на неделю (от понедельника до воскресенья) в зависимости от его физических характеристик, предпочтений, поставленной цели (похудение, поддержание массы, набор массы), а также возможных аллергий или ограничений в питании.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ЦА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ru"/>
              <a:t>Пользователи с целью снижения веса (новички) </a:t>
            </a:r>
            <a:br>
              <a:rPr b="1" lang="ru"/>
            </a:br>
            <a:r>
              <a:rPr b="1" lang="ru"/>
              <a:t>Портрет: пользователи 18–40, без устойчивых привычек контроля рациона, часто “начинают с понедельника”.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ru"/>
              <a:t>Пользователи трекеров калорий (усталость от ручного контроля)</a:t>
            </a:r>
            <a:br>
              <a:rPr b="1" lang="ru"/>
            </a:br>
            <a:r>
              <a:rPr b="1" lang="ru"/>
              <a:t>Портрет: пользователи, знакомые с КБЖУ/калориями (Fatsecret и аналоги), которые устают от ручного внесения еды.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ru"/>
              <a:t>Фитнес-аудитория (набор/поддержание/рекомпозиция)</a:t>
            </a:r>
            <a:br>
              <a:rPr b="1" lang="ru"/>
            </a:br>
            <a:r>
              <a:rPr b="1" lang="ru"/>
              <a:t>Портрет: регулярные тренировки, фокус на белке, удобстве и повторяемости рациона</a:t>
            </a:r>
            <a:r>
              <a:rPr b="1" lang="ru"/>
              <a:t>.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ru"/>
              <a:t>Пользователи с пищевыми ограничениями</a:t>
            </a:r>
            <a:br>
              <a:rPr b="1" lang="ru"/>
            </a:br>
            <a:r>
              <a:rPr b="1" lang="ru"/>
              <a:t>Портрет: аллергии/непереносимости/этические ограничения (вегетарианство и др.).</a:t>
            </a:r>
            <a:endParaRPr b="1"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ru"/>
              <a:t>Пользователи с дефицитом времени (занятые, нерегулярный режим)</a:t>
            </a:r>
            <a:br>
              <a:rPr b="1" lang="ru"/>
            </a:br>
            <a:r>
              <a:rPr b="1" lang="ru"/>
              <a:t>Портрет: работа/учёба, минимизация “умственных затрат” на бытовые решения.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ЦА (вторичная аудитория)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60850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ru"/>
              <a:t>профессиональные спортсмены и пользователи, требующие высокой медицинской точности;</a:t>
            </a:r>
            <a:endParaRPr i="1" u="sng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требует глубокой специализации и интеграций, которые выходят за рамки MV</a:t>
            </a:r>
            <a:r>
              <a:rPr lang="ru"/>
              <a:t>P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маленькая доля рынка относительно массовой аудитории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высокие ожидания к точности = высокий риск негативных отзывов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ru"/>
              <a:t>пользователи с медицинскими диетами (лечебное питание), где необходим врачебный контроль;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высокий юридический риск (рекомендации по питанию при заболеваниях)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требуется валидация медицинскими специалистами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ru"/>
              <a:t>пользователи, которые принципиально хотят ручной дневник и аналитику как основной продукт.</a:t>
            </a:r>
            <a:endParaRPr b="1"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противоречит основной ценности продукта (автоматизация vs. ручной контроль)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требует разработки сложного аналитического функционала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ru"/>
              <a:t>на рынке уже есть устоявшиеся игроки (FatSecret, MyFitnessPal и др.)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Функционал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Сбор и хранений состояний пользователя: возраста, пола, цель пользователя, пол, возраст, вес, рост, физической активности, ограничений в питании (или просто исключенные продукты).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Генерация дневной нормы калорий.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Генерация кратких рекомендаций.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Генерация плана на каждый день с составом блюд, КБЖУ, а также кол-вом калорий.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Подведение итогов калорий и КБЖУ за день.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Вывод ответа без блоков markdown.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200">
                <a:latin typeface="PT Sans Narrow"/>
                <a:ea typeface="PT Sans Narrow"/>
                <a:cs typeface="PT Sans Narrow"/>
                <a:sym typeface="PT Sans Narrow"/>
              </a:rPr>
              <a:t>Пример работы бота</a:t>
            </a:r>
            <a:endParaRPr b="1" sz="4200"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200">
              <a:solidFill>
                <a:schemeClr val="accent1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 title="скринкаст_бот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77898" y="0"/>
            <a:ext cx="2368154" cy="514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Тестирование продукта - 1 (команда тестирования)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196950" y="1203575"/>
            <a:ext cx="3352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b="1" lang="ru" sz="1300"/>
              <a:t>идеи по </a:t>
            </a:r>
            <a:r>
              <a:rPr b="1" lang="ru" sz="1300"/>
              <a:t>оформлению</a:t>
            </a:r>
            <a:endParaRPr b="1"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Формат ответов (без разметки markdown) 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В вопросах с вариантами ответа добавить интерактивные кнопки, чтобы не вводить ответ вручную;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Вынести список покупок в отдельное сообщение , оформить его с галочками.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04" name="Google Shape;104;p19"/>
          <p:cNvSpPr txBox="1"/>
          <p:nvPr>
            <p:ph idx="2" type="body"/>
          </p:nvPr>
        </p:nvSpPr>
        <p:spPr>
          <a:xfrm>
            <a:off x="3496850" y="1078375"/>
            <a:ext cx="54567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0197" lvl="0" marL="457200" rtl="0" algn="l">
              <a:spcBef>
                <a:spcPts val="0"/>
              </a:spcBef>
              <a:spcAft>
                <a:spcPts val="0"/>
              </a:spcAft>
              <a:buSzPts val="1285"/>
              <a:buChar char="➔"/>
            </a:pPr>
            <a:r>
              <a:rPr b="1" lang="ru" sz="1285"/>
              <a:t>идеи по содержанию</a:t>
            </a:r>
            <a:endParaRPr b="1" sz="1285"/>
          </a:p>
          <a:p>
            <a:pPr indent="-310197" lvl="0" marL="457200" rtl="0" algn="l">
              <a:spcBef>
                <a:spcPts val="1000"/>
              </a:spcBef>
              <a:spcAft>
                <a:spcPts val="0"/>
              </a:spcAft>
              <a:buSzPts val="1285"/>
              <a:buAutoNum type="arabicPeriod"/>
            </a:pPr>
            <a:r>
              <a:rPr lang="ru" sz="1285"/>
              <a:t>Исправить работу ограничений  (например, если пользователь выбирает “без лактозы”, бот не должен предлагать молочные продукты);</a:t>
            </a:r>
            <a:endParaRPr sz="1285"/>
          </a:p>
          <a:p>
            <a:pPr indent="-310197" lvl="0" marL="457200" rtl="0" algn="l">
              <a:spcBef>
                <a:spcPts val="0"/>
              </a:spcBef>
              <a:spcAft>
                <a:spcPts val="0"/>
              </a:spcAft>
              <a:buSzPts val="1285"/>
              <a:buAutoNum type="arabicPeriod"/>
            </a:pPr>
            <a:r>
              <a:rPr lang="ru" sz="1285"/>
              <a:t>Вынести предпочтения в отдельный пункт и добиться того, чтобы бот учитывал их при составлении плана;</a:t>
            </a:r>
            <a:endParaRPr sz="1285"/>
          </a:p>
          <a:p>
            <a:pPr indent="-310197" lvl="0" marL="457200" rtl="0" algn="l">
              <a:spcBef>
                <a:spcPts val="0"/>
              </a:spcBef>
              <a:spcAft>
                <a:spcPts val="0"/>
              </a:spcAft>
              <a:buSzPts val="1285"/>
              <a:buAutoNum type="arabicPeriod"/>
            </a:pPr>
            <a:r>
              <a:rPr lang="ru" sz="1285"/>
              <a:t>Для каждого приема пищи добавить граммовки по каждому продукту. </a:t>
            </a:r>
            <a:endParaRPr sz="1285"/>
          </a:p>
          <a:p>
            <a:pPr indent="-310197" lvl="0" marL="457200" rtl="0" algn="l">
              <a:spcBef>
                <a:spcPts val="0"/>
              </a:spcBef>
              <a:spcAft>
                <a:spcPts val="0"/>
              </a:spcAft>
              <a:buSzPts val="1285"/>
              <a:buAutoNum type="arabicPeriod"/>
            </a:pPr>
            <a:r>
              <a:rPr lang="ru" sz="1285"/>
              <a:t>Добавить не только калории, но и полное КБЖУ всех приемов пищи/суммарное КБЖУ в конце дня.</a:t>
            </a:r>
            <a:endParaRPr sz="1285"/>
          </a:p>
          <a:p>
            <a:pPr indent="-310197" lvl="0" marL="457200" rtl="0" algn="l">
              <a:spcBef>
                <a:spcPts val="0"/>
              </a:spcBef>
              <a:spcAft>
                <a:spcPts val="0"/>
              </a:spcAft>
              <a:buSzPts val="1285"/>
              <a:buAutoNum type="arabicPeriod"/>
            </a:pPr>
            <a:r>
              <a:rPr lang="ru" sz="1285"/>
              <a:t>Предложить замены для продуктов (например, если сейчас не хочу рыбу, то предлагать замену — креветки).</a:t>
            </a:r>
            <a:endParaRPr sz="1285"/>
          </a:p>
          <a:p>
            <a:pPr indent="-310197" lvl="0" marL="457200" rtl="0" algn="l">
              <a:spcBef>
                <a:spcPts val="0"/>
              </a:spcBef>
              <a:spcAft>
                <a:spcPts val="0"/>
              </a:spcAft>
              <a:buSzPts val="1285"/>
              <a:buAutoNum type="arabicPeriod"/>
            </a:pPr>
            <a:r>
              <a:rPr lang="ru" sz="1285"/>
              <a:t>Список покупок: добавить количество, сколько чего купить</a:t>
            </a:r>
            <a:endParaRPr sz="1285"/>
          </a:p>
          <a:p>
            <a:pPr indent="-310197" lvl="0" marL="457200" rtl="0" algn="l">
              <a:spcBef>
                <a:spcPts val="0"/>
              </a:spcBef>
              <a:spcAft>
                <a:spcPts val="0"/>
              </a:spcAft>
              <a:buSzPts val="1285"/>
              <a:buAutoNum type="arabicPeriod"/>
            </a:pPr>
            <a:r>
              <a:rPr lang="ru" sz="1285"/>
              <a:t>Добавить предупреждение, что бот не делает никаких медицинских заключений (например, "Бот не заменяет консультацию врача. При наличии заболеваний проконсультируйтесь со специалистом")</a:t>
            </a:r>
            <a:endParaRPr sz="1285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SzPts val="852"/>
              <a:buNone/>
            </a:pPr>
            <a:r>
              <a:t/>
            </a:r>
            <a:endParaRPr sz="128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Тестирование продукта - 2 (опрос фокус-группы)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Идеи, предложенные участниками фокус-группы (14 человек):</a:t>
            </a:r>
            <a:endParaRPr b="1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Д</a:t>
            </a:r>
            <a:r>
              <a:rPr lang="ru"/>
              <a:t>обавить в параметры учет пола м/ж 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Применить принцип MECE для выбора физической активности: иначе неясно, что выбирать людям, у которых 3 тренировки в неделю, “1—3” или “3—5”?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Исключить странные пищевые сочетания, например “перекус рыбий жир + апельсиновый сок”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Добавить: бюджет/сезон/дефициты, которые необходимо закрыть человеку.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Учитывать время и возможности на готовку.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Добавить еще параметры, связанные со здоровьем.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Показать помимо калорий полное КБЖУ. Заранее расписать какой минимум, например, белков необходим при наборе мышечной массы.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ru"/>
              <a:t>Добавить возможность задавать сроки похудения (от этого тоже меняется % дефицит).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Тестирование продукта - 2 (статистика)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Диаграмма ответов в Формах. Вопрос: Этот бот полезен для построения плана питания.. Количество ответов: 14 ответов." id="117" name="Google Shape;117;p21" title="Этот бот полезен для построения плана питания.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350" y="1058525"/>
            <a:ext cx="4353649" cy="20705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Диаграмма ответов в Формах. Вопрос: Этот бот учитывает достаточно параметров пользователя.. Количество ответов: 14 ответов." id="118" name="Google Shape;118;p21" title="Этот бот учитывает достаточно параметров пользователя.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216" y="2831018"/>
            <a:ext cx="4446848" cy="2114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Диаграмма ответов в Формах. Вопрос: Этот бот учитывает достаточно параметров пользователя.. Количество ответов: 14 ответов." id="119" name="Google Shape;119;p21" title="Этот бот учитывает достаточно параметров пользователя.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058525"/>
            <a:ext cx="4353649" cy="2070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Диаграмма ответов в Формах. Вопрос: У этого бота понятный и удобный в использовании интерфейс.. Количество ответов: 14 ответов." id="120" name="Google Shape;120;p21" title="У этого бота понятный и удобный в использовании интерфейс.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2750" y="2807650"/>
            <a:ext cx="4446904" cy="211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Тестирование продукта - 2 (статистика)</a:t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13" y="1381100"/>
            <a:ext cx="8763374" cy="1581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Реализованные после тестирования улучшения</a:t>
            </a:r>
            <a:endParaRPr/>
          </a:p>
        </p:txBody>
      </p: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311700" y="963766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/>
              <a:t>В результате тестирования, которое прошло в 2 этапа (команда тестировщиков + фокус группа), было выдвинуто очень много идей для улучшения. Нам удалось выделить и реализовать наиболее важные из них, остальные мы собираемся учесть в будущем.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300"/>
              <a:t>Внесенные улучшения:</a:t>
            </a:r>
            <a:endParaRPr b="1" sz="13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Формат ответов (без разметки markdown) ;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Список покупок вынесен в отдельное сообщение.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Добавлены рекомендации по количеству приемов пищи и рекомендуемый объем воды в день.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Предпочтения и ограничения разделены как отдельные параметры.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Улучшена работа ограничений и предпочтений (но модель иногда еще галлюцинирует, не учитывая их — над этим еще будем работать)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Добавлено в параметры учет пола м/ж 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В пункт выбора физической активности добавлено взаимоисключающее разделение по дням: вместо  “1—3” и “3—5” → “1—3” и “4—6”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Для каждого приема пищи добавлена граммовка по продукту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Добавлено полное КБЖУ всех приемов пищи и суммарное КБЖУ в конце дня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Добавлены рекомендации по приемам пищи (количество и время)</a:t>
            </a:r>
            <a:endParaRPr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Планы на будущее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196950" y="1203575"/>
            <a:ext cx="33522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➔"/>
            </a:pPr>
            <a:r>
              <a:rPr b="1" lang="ru" sz="1300"/>
              <a:t>идеи по оформлению</a:t>
            </a:r>
            <a:endParaRPr b="1"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AutoNum type="arabicPeriod"/>
            </a:pPr>
            <a:r>
              <a:rPr lang="ru" sz="1300"/>
              <a:t>* </a:t>
            </a:r>
            <a:r>
              <a:rPr lang="ru" sz="1300"/>
              <a:t>В вопросах с вариантами ответа добавить интерактивные кнопки, чтобы не вводить ответ вручную;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1300"/>
              <a:t>* звездочкой помечены наиболее важные, на наш взгляд, улучшения</a:t>
            </a:r>
            <a:endParaRPr i="1"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39" name="Google Shape;139;p24"/>
          <p:cNvSpPr txBox="1"/>
          <p:nvPr>
            <p:ph idx="4294967295" type="body"/>
          </p:nvPr>
        </p:nvSpPr>
        <p:spPr>
          <a:xfrm>
            <a:off x="3496850" y="1214005"/>
            <a:ext cx="54567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0197" lvl="0" marL="457200" rtl="0" algn="l">
              <a:spcBef>
                <a:spcPts val="0"/>
              </a:spcBef>
              <a:spcAft>
                <a:spcPts val="0"/>
              </a:spcAft>
              <a:buSzPts val="1285"/>
              <a:buChar char="➔"/>
            </a:pPr>
            <a:r>
              <a:rPr b="1" lang="ru" sz="1285"/>
              <a:t>идеи по содержанию</a:t>
            </a:r>
            <a:endParaRPr b="1" sz="1285"/>
          </a:p>
          <a:p>
            <a:pPr indent="-310197" lvl="0" marL="457200" rtl="0" algn="l">
              <a:spcBef>
                <a:spcPts val="1000"/>
              </a:spcBef>
              <a:spcAft>
                <a:spcPts val="0"/>
              </a:spcAft>
              <a:buSzPts val="1285"/>
              <a:buAutoNum type="arabicPeriod"/>
            </a:pPr>
            <a:r>
              <a:rPr lang="ru" sz="1285"/>
              <a:t>Предложить замены для продуктов (например, если сейчас не хочу рыбу, то предлагать замену — креветки).</a:t>
            </a:r>
            <a:endParaRPr sz="1285"/>
          </a:p>
          <a:p>
            <a:pPr indent="-310197" lvl="0" marL="457200" rtl="0" algn="l">
              <a:spcBef>
                <a:spcPts val="0"/>
              </a:spcBef>
              <a:spcAft>
                <a:spcPts val="0"/>
              </a:spcAft>
              <a:buSzPts val="1285"/>
              <a:buAutoNum type="arabicPeriod"/>
            </a:pPr>
            <a:r>
              <a:rPr lang="ru" sz="1285"/>
              <a:t>* Список покупок: добавить количество, сколько чего купить</a:t>
            </a:r>
            <a:endParaRPr sz="1285"/>
          </a:p>
          <a:p>
            <a:pPr indent="-310197" lvl="0" marL="457200" rtl="0" algn="l">
              <a:spcBef>
                <a:spcPts val="0"/>
              </a:spcBef>
              <a:spcAft>
                <a:spcPts val="0"/>
              </a:spcAft>
              <a:buSzPts val="1285"/>
              <a:buAutoNum type="arabicPeriod"/>
            </a:pPr>
            <a:r>
              <a:rPr lang="ru" sz="1285"/>
              <a:t>* Добавить предупреждение, что бот не делает никаких медицинских заключений (например, "Бот не заменяет консультацию врача. При наличии заболеваний проконсультируйтесь со специалистом")</a:t>
            </a:r>
            <a:endParaRPr sz="1285"/>
          </a:p>
          <a:p>
            <a:pPr indent="-310197" lvl="0" marL="457200" rtl="0" algn="l">
              <a:spcBef>
                <a:spcPts val="0"/>
              </a:spcBef>
              <a:spcAft>
                <a:spcPts val="0"/>
              </a:spcAft>
              <a:buSzPts val="1285"/>
              <a:buAutoNum type="arabicPeriod"/>
            </a:pPr>
            <a:r>
              <a:rPr lang="ru" sz="1285"/>
              <a:t>Добавить: бюджет/сезон/дефициты, которые необходимо закрыть человеку +д</a:t>
            </a:r>
            <a:r>
              <a:rPr lang="ru" sz="1285"/>
              <a:t>обавить возможность задавать сроки похудения (это влияет на % дефицита).</a:t>
            </a:r>
            <a:endParaRPr sz="1285"/>
          </a:p>
          <a:p>
            <a:pPr indent="-310197" lvl="0" marL="457200" rtl="0" algn="l">
              <a:spcBef>
                <a:spcPts val="0"/>
              </a:spcBef>
              <a:spcAft>
                <a:spcPts val="0"/>
              </a:spcAft>
              <a:buSzPts val="1285"/>
              <a:buAutoNum type="arabicPeriod"/>
            </a:pPr>
            <a:r>
              <a:rPr lang="ru" sz="1285"/>
              <a:t>Учитывать время и возможности на готовку.</a:t>
            </a:r>
            <a:endParaRPr sz="1285"/>
          </a:p>
          <a:p>
            <a:pPr indent="-310197" lvl="0" marL="457200" rtl="0" algn="l">
              <a:spcBef>
                <a:spcPts val="0"/>
              </a:spcBef>
              <a:spcAft>
                <a:spcPts val="0"/>
              </a:spcAft>
              <a:buSzPts val="1285"/>
              <a:buAutoNum type="arabicPeriod"/>
            </a:pPr>
            <a:r>
              <a:rPr lang="ru" sz="1285"/>
              <a:t>* Добавить еще параметры, связанные со здоровьем, аллергиями и т.п.</a:t>
            </a:r>
            <a:endParaRPr sz="128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